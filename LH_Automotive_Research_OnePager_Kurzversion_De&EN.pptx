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5" r:id="rId9"/>
    <p:sldId id="260" r:id="rId10"/>
    <p:sldId id="266" r:id="rId11"/>
    <p:sldId id="261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5189" autoAdjust="0"/>
  </p:normalViewPr>
  <p:slideViewPr>
    <p:cSldViewPr snapToGrid="0" snapToObjects="1">
      <p:cViewPr>
        <p:scale>
          <a:sx n="80" d="100"/>
          <a:sy n="80" d="100"/>
        </p:scale>
        <p:origin x="2082" y="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C5C7"/>
                </a:solidFill>
                <a:latin typeface="Inter"/>
              </a:rPr>
              <a:t>AUTOMOTIVE RESEARCH &amp; BERATUNG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Montserrat"/>
              </a:rPr>
              <a:t>Automotive Research</a:t>
            </a:r>
            <a:r>
              <a:rPr lang="de-DE" sz="2800" b="1" dirty="0">
                <a:solidFill>
                  <a:srgbClr val="FFFFFF"/>
                </a:solidFill>
                <a:latin typeface="Montserrat"/>
              </a:rPr>
              <a:t> &amp; Beratung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fuer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Entscheidungen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mit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strategischem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Gewicht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50802"/>
            <a:ext cx="969264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dirty="0">
                <a:solidFill>
                  <a:srgbClr val="B0B7BF"/>
                </a:solidFill>
                <a:latin typeface="Inter"/>
              </a:rPr>
              <a:t>L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+H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begleitet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1992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anspruchsvolle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Forschungs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und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Beratungsprojekte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der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Automobilindustrie</a:t>
            </a:r>
            <a:r>
              <a:rPr lang="de-DE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von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Volumenclinics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Designstudien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bis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Ethnographie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Online Research und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vorstandssicher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verdichteten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Ergebnissen</a:t>
            </a:r>
            <a:r>
              <a:rPr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de-DE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DE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 verbinden methodische Aktualität, kritische Urteilskraft, flexible Umsetzung und Ergebnispräsentationen, die auch vor anspruchsvollen Gremien bestehen.</a:t>
            </a:r>
            <a:endParaRPr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540957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462325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Inter"/>
              </a:rPr>
              <a:t>Senior </a:t>
            </a:r>
            <a:r>
              <a:rPr sz="1050" b="0" dirty="0" err="1">
                <a:solidFill>
                  <a:srgbClr val="F5F7FA"/>
                </a:solidFill>
                <a:latin typeface="Inter"/>
              </a:rPr>
              <a:t>gefuehrt</a:t>
            </a:r>
            <a:endParaRPr sz="1050" b="0" dirty="0">
              <a:solidFill>
                <a:srgbClr val="F5F7FA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24911" y="4540957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39" y="4623252"/>
            <a:ext cx="17830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Inter"/>
              </a:rPr>
              <a:t>TISAX-</a:t>
            </a:r>
            <a:r>
              <a:rPr lang="de-DE" sz="1050" b="0" dirty="0">
                <a:solidFill>
                  <a:srgbClr val="F5F7FA"/>
                </a:solidFill>
                <a:latin typeface="Inter"/>
              </a:rPr>
              <a:t>AL 3 </a:t>
            </a:r>
            <a:r>
              <a:rPr sz="1050" b="0" dirty="0" err="1">
                <a:solidFill>
                  <a:srgbClr val="F5F7FA"/>
                </a:solidFill>
                <a:latin typeface="Inter"/>
              </a:rPr>
              <a:t>zertifiziert</a:t>
            </a:r>
            <a:endParaRPr sz="1050" b="0" dirty="0">
              <a:solidFill>
                <a:srgbClr val="F5F7FA"/>
              </a:solidFill>
              <a:latin typeface="Inte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09744" y="4540957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462325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Inter"/>
              </a:rPr>
              <a:t>Prototypensensible Umfelder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85431" y="4567381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48856" y="4563363"/>
            <a:ext cx="218541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050" b="0" dirty="0">
                <a:solidFill>
                  <a:srgbClr val="F5F7FA"/>
                </a:solidFill>
                <a:latin typeface="Inter"/>
              </a:rPr>
              <a:t>L+H eigene </a:t>
            </a:r>
            <a:r>
              <a:rPr sz="1050" b="0" dirty="0" err="1">
                <a:solidFill>
                  <a:srgbClr val="F5F7FA"/>
                </a:solidFill>
                <a:latin typeface="Inter"/>
              </a:rPr>
              <a:t>Datenschutzkonforme</a:t>
            </a:r>
            <a:r>
              <a:rPr sz="1050" b="0" dirty="0">
                <a:solidFill>
                  <a:srgbClr val="F5F7FA"/>
                </a:solidFill>
                <a:latin typeface="Inter"/>
              </a:rPr>
              <a:t> KI-</a:t>
            </a:r>
            <a:r>
              <a:rPr sz="1050" b="0" dirty="0" err="1">
                <a:solidFill>
                  <a:srgbClr val="F5F7FA"/>
                </a:solidFill>
                <a:latin typeface="Inter"/>
              </a:rPr>
              <a:t>Plattform</a:t>
            </a:r>
            <a:endParaRPr sz="1050" b="0" dirty="0">
              <a:solidFill>
                <a:srgbClr val="F5F7FA"/>
              </a:solidFill>
              <a:latin typeface="Inte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33687" y="4578014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79" y="455658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F5F7FA"/>
                </a:solidFill>
                <a:latin typeface="Inter"/>
              </a:rPr>
              <a:t>Vorstandssichere</a:t>
            </a:r>
            <a:r>
              <a:rPr sz="1050" b="0" dirty="0">
                <a:solidFill>
                  <a:srgbClr val="F5F7FA"/>
                </a:solidFill>
                <a:latin typeface="Inter"/>
              </a:rPr>
              <a:t> </a:t>
            </a:r>
            <a:r>
              <a:rPr sz="1050" b="0" dirty="0" err="1">
                <a:solidFill>
                  <a:srgbClr val="F5F7FA"/>
                </a:solidFill>
                <a:latin typeface="Inter"/>
              </a:rPr>
              <a:t>Ergebnispraesentation</a:t>
            </a:r>
            <a:endParaRPr sz="1050" b="0" dirty="0">
              <a:solidFill>
                <a:srgbClr val="F5F7F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F926A-4E75-1C72-0CB2-6BFE22AB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D65FC1-0CC0-C254-3408-CDB3CB1DF7E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B1BEE-84D5-B338-98E4-546F826FD900}"/>
              </a:ext>
            </a:extLst>
          </p:cNvPr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AUTOMOTIVE RESEARCH &amp; CONSULTING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78C5C7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2D7E8-4E1E-82C6-C7C4-16208F46E37D}"/>
              </a:ext>
            </a:extLst>
          </p:cNvPr>
          <p:cNvSpPr txBox="1"/>
          <p:nvPr/>
        </p:nvSpPr>
        <p:spPr>
          <a:xfrm>
            <a:off x="640080" y="914400"/>
            <a:ext cx="10058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Automotive research and consulting for strategic decision-making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11844-EA43-863B-8EB2-6C8A2F85DCC5}"/>
              </a:ext>
            </a:extLst>
          </p:cNvPr>
          <p:cNvSpPr txBox="1"/>
          <p:nvPr/>
        </p:nvSpPr>
        <p:spPr>
          <a:xfrm>
            <a:off x="640080" y="1950802"/>
            <a:ext cx="969264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1992, L+H has supported complex research and consulting projects across the automotive industry, from volume clinics and design studies to ethnography, online research, and executive-level insight synthesis.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combine advanced research methodology, senior judgment, flexible execution, and clear, decision-ready reporting. Our work is designed to stand up to expert review, management discussion, and board-level decision-making.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E4AE09-A687-2F97-6A7D-2EB36F30F1F4}"/>
              </a:ext>
            </a:extLst>
          </p:cNvPr>
          <p:cNvSpPr/>
          <p:nvPr/>
        </p:nvSpPr>
        <p:spPr>
          <a:xfrm>
            <a:off x="640080" y="4540957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EEB8A-6ECD-7A99-8433-ED01640D8EEB}"/>
              </a:ext>
            </a:extLst>
          </p:cNvPr>
          <p:cNvSpPr txBox="1"/>
          <p:nvPr/>
        </p:nvSpPr>
        <p:spPr>
          <a:xfrm>
            <a:off x="749808" y="4623252"/>
            <a:ext cx="17830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Senior-led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E467E6-54F6-9ADE-00A9-46BAF2C1F572}"/>
              </a:ext>
            </a:extLst>
          </p:cNvPr>
          <p:cNvSpPr/>
          <p:nvPr/>
        </p:nvSpPr>
        <p:spPr>
          <a:xfrm>
            <a:off x="2724911" y="4540957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7909B-A42D-06E6-C796-9AB673FA0C2E}"/>
              </a:ext>
            </a:extLst>
          </p:cNvPr>
          <p:cNvSpPr txBox="1"/>
          <p:nvPr/>
        </p:nvSpPr>
        <p:spPr>
          <a:xfrm>
            <a:off x="2834639" y="4623252"/>
            <a:ext cx="17830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TISAX-AL 3 certified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E7D3F6-4EE0-0853-82EA-9F68622E3E01}"/>
              </a:ext>
            </a:extLst>
          </p:cNvPr>
          <p:cNvSpPr/>
          <p:nvPr/>
        </p:nvSpPr>
        <p:spPr>
          <a:xfrm>
            <a:off x="4809744" y="4540957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AFED2-54FE-6901-4289-DDD3502EDBC7}"/>
              </a:ext>
            </a:extLst>
          </p:cNvPr>
          <p:cNvSpPr txBox="1"/>
          <p:nvPr/>
        </p:nvSpPr>
        <p:spPr>
          <a:xfrm>
            <a:off x="4919472" y="4548821"/>
            <a:ext cx="178308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Experienced in prototype-sensitive research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7FA9BF-D913-6F70-C8CF-696FB1B752CC}"/>
              </a:ext>
            </a:extLst>
          </p:cNvPr>
          <p:cNvSpPr/>
          <p:nvPr/>
        </p:nvSpPr>
        <p:spPr>
          <a:xfrm>
            <a:off x="6885431" y="4567381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9A0EC-65B3-5964-E859-E1F9F9A215DC}"/>
              </a:ext>
            </a:extLst>
          </p:cNvPr>
          <p:cNvSpPr txBox="1"/>
          <p:nvPr/>
        </p:nvSpPr>
        <p:spPr>
          <a:xfrm>
            <a:off x="6848856" y="4563363"/>
            <a:ext cx="218541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L+H </a:t>
            </a:r>
            <a:r>
              <a:rPr kumimoji="0" lang="it-I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internal</a:t>
            </a: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data-</a:t>
            </a:r>
            <a:r>
              <a:rPr kumimoji="0" lang="it-I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compliant</a:t>
            </a: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AI </a:t>
            </a:r>
            <a:r>
              <a:rPr kumimoji="0" lang="it-I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research</a:t>
            </a: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</a:t>
            </a:r>
            <a:r>
              <a:rPr kumimoji="0" lang="it-I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platform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5BC966A-EDA5-8606-6611-C12197A2ECDB}"/>
              </a:ext>
            </a:extLst>
          </p:cNvPr>
          <p:cNvSpPr/>
          <p:nvPr/>
        </p:nvSpPr>
        <p:spPr>
          <a:xfrm>
            <a:off x="8933687" y="4578014"/>
            <a:ext cx="1965960" cy="411480"/>
          </a:xfrm>
          <a:prstGeom prst="roundRect">
            <a:avLst/>
          </a:prstGeom>
          <a:solidFill>
            <a:srgbClr val="1C1F23"/>
          </a:solidFill>
          <a:ln>
            <a:solidFill>
              <a:srgbClr val="78C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A412C7-5AE4-BF1E-944F-E6B09BE5317A}"/>
              </a:ext>
            </a:extLst>
          </p:cNvPr>
          <p:cNvSpPr txBox="1"/>
          <p:nvPr/>
        </p:nvSpPr>
        <p:spPr>
          <a:xfrm>
            <a:off x="9034271" y="4567381"/>
            <a:ext cx="178308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Board-ready results presentations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8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C5C7"/>
                </a:solidFill>
                <a:latin typeface="Inter"/>
              </a:rPr>
              <a:t>SO ARBEITEN WIR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ontserrat"/>
              </a:rPr>
              <a:t>Senior gefuehrt. Flexibel umgesetzt. Sicher in der Entscheidung.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0B7BF"/>
                </a:solidFill>
                <a:latin typeface="Inter"/>
              </a:rPr>
              <a:t>Wir verbinden methodische Praezision, schlanke Projektfuehrung und Ergebnisaufbereitung auf Management-Niveau.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Erfahrene Ansprechpartner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447288"/>
            <a:ext cx="28254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Keine Weitergabe, keine Reibungsverluste. Projekte werden direkt von Senioren gefuehrt.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Flexibilitaet mit Substanz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3447288"/>
            <a:ext cx="28254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Kurze Wege, hohe Reaktionsgeschwindigkeit und verlaessliche Qualitaetsstandards.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2944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7536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Ergebnisse, die bestehen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3447288"/>
            <a:ext cx="28254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Erkenntnisse, die auch vor Fachbereichen, Management und Vorstaenden tragen.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5264B-7638-6CE4-B57C-270BE3B6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F6A5D-172D-7655-E94B-A33C1F6F5B0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C8042-523C-9575-5A01-5F31751D9C07}"/>
              </a:ext>
            </a:extLst>
          </p:cNvPr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HOW WE WORK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78C5C7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AE0B0-0E99-F9E9-01C2-04845DC73D02}"/>
              </a:ext>
            </a:extLst>
          </p:cNvPr>
          <p:cNvSpPr txBox="1"/>
          <p:nvPr/>
        </p:nvSpPr>
        <p:spPr>
          <a:xfrm>
            <a:off x="640080" y="914400"/>
            <a:ext cx="10058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Senior expertise. Agile execution. Decisions you can stand behind.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4C307-20C8-1CB2-71BB-7341147D4A41}"/>
              </a:ext>
            </a:extLst>
          </p:cNvPr>
          <p:cNvSpPr txBox="1"/>
          <p:nvPr/>
        </p:nvSpPr>
        <p:spPr>
          <a:xfrm>
            <a:off x="640080" y="1874519"/>
            <a:ext cx="96926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 combine methodological precision, lean project management, and management-level results delivery.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F0F336-36CD-B639-9D32-77716DD2B1AB}"/>
              </a:ext>
            </a:extLst>
          </p:cNvPr>
          <p:cNvSpPr/>
          <p:nvPr/>
        </p:nvSpPr>
        <p:spPr>
          <a:xfrm>
            <a:off x="640080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34562-AC89-F660-5FA9-6FE072CBA597}"/>
              </a:ext>
            </a:extLst>
          </p:cNvPr>
          <p:cNvSpPr txBox="1"/>
          <p:nvPr/>
        </p:nvSpPr>
        <p:spPr>
          <a:xfrm>
            <a:off x="804670" y="3063240"/>
            <a:ext cx="312724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Direct access to experienced senior consultants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EA5F0-8337-5F71-76D3-F0A92397D27D}"/>
              </a:ext>
            </a:extLst>
          </p:cNvPr>
          <p:cNvSpPr txBox="1"/>
          <p:nvPr/>
        </p:nvSpPr>
        <p:spPr>
          <a:xfrm>
            <a:off x="804672" y="3629270"/>
            <a:ext cx="2825496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No unnecessary handoffs, no loss of context. Your project is led by experienced senior consultants from the start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1ABF8F-F590-2D5D-DCAD-A45299163EC1}"/>
              </a:ext>
            </a:extLst>
          </p:cNvPr>
          <p:cNvSpPr/>
          <p:nvPr/>
        </p:nvSpPr>
        <p:spPr>
          <a:xfrm>
            <a:off x="4096512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728F9-FF31-77F6-DEF0-F534649FB938}"/>
              </a:ext>
            </a:extLst>
          </p:cNvPr>
          <p:cNvSpPr txBox="1"/>
          <p:nvPr/>
        </p:nvSpPr>
        <p:spPr>
          <a:xfrm>
            <a:off x="4261104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Flexibility with substance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CB207-46C6-29E9-D23F-8233B3D0F920}"/>
              </a:ext>
            </a:extLst>
          </p:cNvPr>
          <p:cNvSpPr txBox="1"/>
          <p:nvPr/>
        </p:nvSpPr>
        <p:spPr>
          <a:xfrm>
            <a:off x="4261104" y="3447288"/>
            <a:ext cx="282549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Short communication lines, fast response times, and reliable quality standards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BB1DD6-2A49-3121-0379-E4E45C36AE9F}"/>
              </a:ext>
            </a:extLst>
          </p:cNvPr>
          <p:cNvSpPr/>
          <p:nvPr/>
        </p:nvSpPr>
        <p:spPr>
          <a:xfrm>
            <a:off x="7552944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260424-F840-4AAE-3ED3-4A9DEC807333}"/>
              </a:ext>
            </a:extLst>
          </p:cNvPr>
          <p:cNvSpPr txBox="1"/>
          <p:nvPr/>
        </p:nvSpPr>
        <p:spPr>
          <a:xfrm>
            <a:off x="7717536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Insights built to hold up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64D36D-89DC-1BE6-C488-6DA56F587900}"/>
              </a:ext>
            </a:extLst>
          </p:cNvPr>
          <p:cNvSpPr txBox="1"/>
          <p:nvPr/>
        </p:nvSpPr>
        <p:spPr>
          <a:xfrm>
            <a:off x="7717536" y="3447288"/>
            <a:ext cx="282549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Decision-ready insights for experts, cross-functional teams, management, and the board.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39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C5C7"/>
                </a:solidFill>
                <a:latin typeface="Inter"/>
              </a:rPr>
              <a:t>FUER WEN WIR ARBEITEN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ontserrat"/>
              </a:rPr>
              <a:t>Partner fuer Hersteller, Mobilitaetsanbieter und anspruchsvolle Automotive-Entscheider.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0B7BF"/>
                </a:solidFill>
                <a:latin typeface="Inter"/>
              </a:rPr>
              <a:t>Wir arbeiten dort, wo Produkt-, Marken- und Marktentwicklungen belastbare Kundenperspektiven brauchen.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Hersteller &amp; Marken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447288"/>
            <a:ext cx="28254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Forschung fuer Konzepte, Designs, Fahrzeuge und strategische Entscheidungen.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Mobilitaetsanbieter &amp; neue 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3447288"/>
            <a:ext cx="28254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Nutzerperspektiven fuer neue Angebote, Services und Marktzugaenge.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2944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7536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Vertrieb &amp; Handel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3447288"/>
            <a:ext cx="28254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Research fuer Verkaufs- und Serviceerlebnisse, die Markenerfolg mitpraegen.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8C5C7"/>
                </a:solidFill>
                <a:latin typeface="Inter"/>
              </a:rPr>
              <a:t>Erfahrung in Projekten fuer Porsche, BMW, Bentley, Audi und MINI.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FCD71-1332-5C57-8163-0CEC4214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A2C7D0-A5A3-D8F7-465E-84DE390C912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466CE-379B-E832-8E58-9E554890C6A2}"/>
              </a:ext>
            </a:extLst>
          </p:cNvPr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WHO WE WORK FOR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78C5C7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4768-5DE9-F810-3ED0-3DB4FD433F74}"/>
              </a:ext>
            </a:extLst>
          </p:cNvPr>
          <p:cNvSpPr txBox="1"/>
          <p:nvPr/>
        </p:nvSpPr>
        <p:spPr>
          <a:xfrm>
            <a:off x="640080" y="914400"/>
            <a:ext cx="10058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 trusted partner for automotive manufacturers, suppliers, and decision-makers.</a:t>
            </a:r>
            <a:endParaRPr kumimoji="0" lang="de-DE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19A34-F06B-E296-CA3B-016D352DFA94}"/>
              </a:ext>
            </a:extLst>
          </p:cNvPr>
          <p:cNvSpPr txBox="1"/>
          <p:nvPr/>
        </p:nvSpPr>
        <p:spPr>
          <a:xfrm>
            <a:off x="640080" y="1874519"/>
            <a:ext cx="96926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 operate where product, brand, and market strategies are shaped by a deep understanding of the customer. 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DF4938A-CF6A-7BBC-6930-FE4E610FAFC6}"/>
              </a:ext>
            </a:extLst>
          </p:cNvPr>
          <p:cNvSpPr/>
          <p:nvPr/>
        </p:nvSpPr>
        <p:spPr>
          <a:xfrm>
            <a:off x="640080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2EB32-06F1-6FA6-155E-CA94DFFD3B3E}"/>
              </a:ext>
            </a:extLst>
          </p:cNvPr>
          <p:cNvSpPr txBox="1"/>
          <p:nvPr/>
        </p:nvSpPr>
        <p:spPr>
          <a:xfrm>
            <a:off x="804671" y="3063240"/>
            <a:ext cx="282549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Manufacturers &amp; Automotive Brands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C8D55-BD9B-5DD7-A6C1-E77E1857B815}"/>
              </a:ext>
            </a:extLst>
          </p:cNvPr>
          <p:cNvSpPr txBox="1"/>
          <p:nvPr/>
        </p:nvSpPr>
        <p:spPr>
          <a:xfrm>
            <a:off x="804671" y="3633056"/>
            <a:ext cx="282549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Research for concepts, vehicle designs, product development, and strategic decision-making.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4CD01B-46A5-906F-1F75-142A7DF3F2A6}"/>
              </a:ext>
            </a:extLst>
          </p:cNvPr>
          <p:cNvSpPr/>
          <p:nvPr/>
        </p:nvSpPr>
        <p:spPr>
          <a:xfrm>
            <a:off x="4096512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66E30-E3C4-C246-ED78-8F17B1CE773E}"/>
              </a:ext>
            </a:extLst>
          </p:cNvPr>
          <p:cNvSpPr txBox="1"/>
          <p:nvPr/>
        </p:nvSpPr>
        <p:spPr>
          <a:xfrm>
            <a:off x="4261104" y="3063240"/>
            <a:ext cx="282549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Mobility Companies &amp; Emerging Players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6AFCF6-430C-B177-97FA-819B1F1A785F}"/>
              </a:ext>
            </a:extLst>
          </p:cNvPr>
          <p:cNvSpPr txBox="1"/>
          <p:nvPr/>
        </p:nvSpPr>
        <p:spPr>
          <a:xfrm>
            <a:off x="4256532" y="3726398"/>
            <a:ext cx="282549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Customer and user perspectives for new services, offerings, and market entry decisions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8A3671-A009-1611-AAAA-EDD01D175C11}"/>
              </a:ext>
            </a:extLst>
          </p:cNvPr>
          <p:cNvSpPr/>
          <p:nvPr/>
        </p:nvSpPr>
        <p:spPr>
          <a:xfrm>
            <a:off x="7552944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CAF52-C846-27D6-0768-2FDE7B9E1EC4}"/>
              </a:ext>
            </a:extLst>
          </p:cNvPr>
          <p:cNvSpPr txBox="1"/>
          <p:nvPr/>
        </p:nvSpPr>
        <p:spPr>
          <a:xfrm>
            <a:off x="7717536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Sales &amp; Retail Networks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87F71-1FF0-31C7-1ECA-8BFAAEDF5C0D}"/>
              </a:ext>
            </a:extLst>
          </p:cNvPr>
          <p:cNvSpPr txBox="1"/>
          <p:nvPr/>
        </p:nvSpPr>
        <p:spPr>
          <a:xfrm>
            <a:off x="7717536" y="3603233"/>
            <a:ext cx="282549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Research for sales and service experiences that help shape brand success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A4D83F-72B5-7666-FD95-37DCBFFAF65D}"/>
              </a:ext>
            </a:extLst>
          </p:cNvPr>
          <p:cNvSpPr txBox="1"/>
          <p:nvPr/>
        </p:nvSpPr>
        <p:spPr>
          <a:xfrm>
            <a:off x="640080" y="5989320"/>
            <a:ext cx="10241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Trusted research partner for Porsche, BMW, Bentley, Audi, and MINI.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78C5C7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02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C5C7"/>
                </a:solidFill>
                <a:latin typeface="Inter"/>
              </a:rPr>
              <a:t>METHODEN &amp; BERATUNG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ontserrat"/>
              </a:rPr>
              <a:t>Methodisch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aktuell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.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Kritisch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geprueft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.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Passend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zur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Fragestellung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0B7BF"/>
                </a:solidFill>
                <a:latin typeface="Inter"/>
              </a:rPr>
              <a:t>Wir arbeiten qualitativ, quantitativ und hybrid - mit klarem Blick auf Erkenntniswert, Umsetzbarkeit und Entscheidungssicherheit.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926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Qualitative Forschung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310128"/>
            <a:ext cx="48371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Tiefenverstaendnis fuer Motive, Wahrnehmung und Nutzung.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2926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Quantitative Forschung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310128"/>
            <a:ext cx="48371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Messbare, vergleichbare und entscheidungsfaehige Ergebnisse.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4617720"/>
            <a:ext cx="4837176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Montserrat"/>
              </a:rPr>
              <a:t>Car Clinics &amp; </a:t>
            </a:r>
            <a:r>
              <a:rPr sz="1500" b="1" dirty="0" err="1">
                <a:solidFill>
                  <a:srgbClr val="FFFFFF"/>
                </a:solidFill>
                <a:latin typeface="Montserrat"/>
              </a:rPr>
              <a:t>produktnahe</a:t>
            </a:r>
            <a:r>
              <a:rPr sz="15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Montserrat"/>
              </a:rPr>
              <a:t>Studien</a:t>
            </a:r>
            <a:r>
              <a:rPr lang="de-DE" sz="1500" b="1" dirty="0">
                <a:solidFill>
                  <a:srgbClr val="FFFFFF"/>
                </a:solidFill>
                <a:latin typeface="Montserrat"/>
              </a:rPr>
              <a:t> (Virtuell und physisch) </a:t>
            </a:r>
            <a:br>
              <a:rPr lang="de-DE" sz="1500" b="1" dirty="0">
                <a:solidFill>
                  <a:srgbClr val="FFFFFF"/>
                </a:solidFill>
                <a:latin typeface="Montserrat"/>
              </a:rPr>
            </a:br>
            <a:endParaRPr sz="15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1" y="5123658"/>
            <a:ext cx="48371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B0B7BF"/>
                </a:solidFill>
                <a:latin typeface="Inter"/>
              </a:rPr>
              <a:t>Fruehes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Feedback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zu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Konzepten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,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Prototypen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und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Designrichtungen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43484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461772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Beratung &amp; Verdichtung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5001768"/>
            <a:ext cx="48371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0B7BF"/>
                </a:solidFill>
                <a:latin typeface="Inter"/>
              </a:rPr>
              <a:t>Ergebnisse, die nicht im Reporting enden, sondern in Entscheidungen wirken.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E3AAB-EE90-F11C-5EA2-2EB4011A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C10CC-15D3-B21F-73C3-5A14A496C8C5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017CB-1318-0D6C-2321-6B011BC9404A}"/>
              </a:ext>
            </a:extLst>
          </p:cNvPr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METHODS &amp; CONSULTING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78C5C7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5E5D1-A80F-E838-5ADF-5B8AD8790C7F}"/>
              </a:ext>
            </a:extLst>
          </p:cNvPr>
          <p:cNvSpPr txBox="1"/>
          <p:nvPr/>
        </p:nvSpPr>
        <p:spPr>
          <a:xfrm>
            <a:off x="640080" y="914400"/>
            <a:ext cx="10058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Advanced methods. Critical evaluation. Tailored approaches for every research question.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FBC61-0A2F-7C0E-F832-53419DE4DC99}"/>
              </a:ext>
            </a:extLst>
          </p:cNvPr>
          <p:cNvSpPr txBox="1"/>
          <p:nvPr/>
        </p:nvSpPr>
        <p:spPr>
          <a:xfrm>
            <a:off x="640080" y="1874519"/>
            <a:ext cx="96926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 combine qualitative, quantitative, and hybrid approaches, with a clear focus on actionable insights, practical relevance, and confident decision-making.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AAF563-8042-D62E-8389-A76767FE66BD}"/>
              </a:ext>
            </a:extLst>
          </p:cNvPr>
          <p:cNvSpPr/>
          <p:nvPr/>
        </p:nvSpPr>
        <p:spPr>
          <a:xfrm>
            <a:off x="640080" y="274320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60174-CF3D-855D-BE0F-D06F751DD871}"/>
              </a:ext>
            </a:extLst>
          </p:cNvPr>
          <p:cNvSpPr txBox="1"/>
          <p:nvPr/>
        </p:nvSpPr>
        <p:spPr>
          <a:xfrm>
            <a:off x="804671" y="2926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Qualitative Research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D7263-D370-8E73-85E8-63956BDF595A}"/>
              </a:ext>
            </a:extLst>
          </p:cNvPr>
          <p:cNvSpPr txBox="1"/>
          <p:nvPr/>
        </p:nvSpPr>
        <p:spPr>
          <a:xfrm>
            <a:off x="804671" y="3310128"/>
            <a:ext cx="4837176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Uncovering the underlying motivations, perceptions, and experiences that shape customer decisions.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9A88A3-8EF5-6A83-5809-970DD8AB13A0}"/>
              </a:ext>
            </a:extLst>
          </p:cNvPr>
          <p:cNvSpPr/>
          <p:nvPr/>
        </p:nvSpPr>
        <p:spPr>
          <a:xfrm>
            <a:off x="6172200" y="274320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11E95-4B0E-BD17-0783-2A7CF0599AE7}"/>
              </a:ext>
            </a:extLst>
          </p:cNvPr>
          <p:cNvSpPr txBox="1"/>
          <p:nvPr/>
        </p:nvSpPr>
        <p:spPr>
          <a:xfrm>
            <a:off x="6336792" y="2926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Quantitative Research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267C5C-5007-A49B-AC6B-3FD3CAD19AC9}"/>
              </a:ext>
            </a:extLst>
          </p:cNvPr>
          <p:cNvSpPr txBox="1"/>
          <p:nvPr/>
        </p:nvSpPr>
        <p:spPr>
          <a:xfrm>
            <a:off x="6336792" y="3310128"/>
            <a:ext cx="483717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Measurable, comparable, and decision-ready results.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52DB3D-27B8-ABC1-05D5-AF2D34D711CC}"/>
              </a:ext>
            </a:extLst>
          </p:cNvPr>
          <p:cNvSpPr/>
          <p:nvPr/>
        </p:nvSpPr>
        <p:spPr>
          <a:xfrm>
            <a:off x="640080" y="443484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6B976-296D-1EE0-7261-233602A25C70}"/>
              </a:ext>
            </a:extLst>
          </p:cNvPr>
          <p:cNvSpPr txBox="1"/>
          <p:nvPr/>
        </p:nvSpPr>
        <p:spPr>
          <a:xfrm>
            <a:off x="804671" y="4617720"/>
            <a:ext cx="483717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Car Clinics &amp; Product-Focused Studies (Virtual &amp; Physical)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B0E02C-D8C5-D462-094C-E0FB31CC3B9A}"/>
              </a:ext>
            </a:extLst>
          </p:cNvPr>
          <p:cNvSpPr txBox="1"/>
          <p:nvPr/>
        </p:nvSpPr>
        <p:spPr>
          <a:xfrm>
            <a:off x="804671" y="5123658"/>
            <a:ext cx="483717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Early feedback on concepts, prototypes, and design directions.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B31AC6A-DF1C-458D-581A-ABA9213D5DC7}"/>
              </a:ext>
            </a:extLst>
          </p:cNvPr>
          <p:cNvSpPr/>
          <p:nvPr/>
        </p:nvSpPr>
        <p:spPr>
          <a:xfrm>
            <a:off x="6172200" y="4434840"/>
            <a:ext cx="5166360" cy="123444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A97B9-4D8E-B999-F647-97DBC5AB69F9}"/>
              </a:ext>
            </a:extLst>
          </p:cNvPr>
          <p:cNvSpPr txBox="1"/>
          <p:nvPr/>
        </p:nvSpPr>
        <p:spPr>
          <a:xfrm>
            <a:off x="6336792" y="461772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Consulting &amp; Insight Integration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2A798-7072-1AE7-30DA-2D56366AADCD}"/>
              </a:ext>
            </a:extLst>
          </p:cNvPr>
          <p:cNvSpPr txBox="1"/>
          <p:nvPr/>
        </p:nvSpPr>
        <p:spPr>
          <a:xfrm>
            <a:off x="6336792" y="5001768"/>
            <a:ext cx="483717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Insights that go beyond reporting and directly support decision-making.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594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C5C7"/>
                </a:solidFill>
                <a:latin typeface="Inter"/>
              </a:rPr>
              <a:t>CAR CLINICS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ontserrat"/>
              </a:rPr>
              <a:t>Car Clinics fuer sensible Projekte und belastbare Produktentscheidungen.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0B7BF"/>
                </a:solidFill>
                <a:latin typeface="Inter"/>
              </a:rPr>
              <a:t>L+H begleitet seit vielen Jahren Volumenclinics, Konzept- und Designclinics in anspruchsvollen Automotive-Umfeldern.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15468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306324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Volumen- und statische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568499"/>
            <a:ext cx="282549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B0B7BF"/>
                </a:solidFill>
                <a:latin typeface="Inter"/>
              </a:rPr>
              <a:t>Strukturierte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Bewertung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von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Fahrzeugen</a:t>
            </a:r>
            <a:r>
              <a:rPr lang="de-DE" sz="1250" dirty="0">
                <a:solidFill>
                  <a:srgbClr val="B0B7BF"/>
                </a:solidFill>
                <a:latin typeface="Inter"/>
              </a:rPr>
              <a:t> und deren Wettbewerber, Volumen &amp; Preis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</a:t>
            </a:r>
            <a:r>
              <a:rPr lang="de-DE" sz="1250" b="0" dirty="0">
                <a:solidFill>
                  <a:srgbClr val="B0B7BF"/>
                </a:solidFill>
                <a:latin typeface="Inter"/>
              </a:rPr>
              <a:t>sowie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Detailauspraegungen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2880360"/>
            <a:ext cx="2256162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063240"/>
            <a:ext cx="202073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Konzept- und Designclinics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3581576"/>
            <a:ext cx="2020736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B0B7BF"/>
                </a:solidFill>
                <a:latin typeface="Inter"/>
              </a:rPr>
              <a:t>Fruehes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Feedback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zu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Exterieur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, Interieur,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Positionierung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und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wahrgenommenem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Wert.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4169" y="2880359"/>
            <a:ext cx="242316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427" y="3063239"/>
            <a:ext cx="217030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Prototypennahe Durchfuehrung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427" y="3557015"/>
            <a:ext cx="2170309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B0B7BF"/>
                </a:solidFill>
                <a:latin typeface="Inter"/>
              </a:rPr>
              <a:t>TISAX-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zertifiziert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,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datenschutzkonform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und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sicher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in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sensiblen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Entwicklungsumfeldern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19" y="5769864"/>
            <a:ext cx="22128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Inter"/>
              </a:rPr>
              <a:t>Zielkunden-Rekrutierung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8687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7" y="5769864"/>
            <a:ext cx="22128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Inter"/>
              </a:rPr>
              <a:t>Wettbewerbsvergleich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7296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8736" y="5769864"/>
            <a:ext cx="22128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5F7FA"/>
                </a:solidFill>
                <a:latin typeface="Inter"/>
              </a:rPr>
              <a:t>Senior </a:t>
            </a:r>
            <a:r>
              <a:rPr lang="de-DE" sz="1000" dirty="0">
                <a:solidFill>
                  <a:srgbClr val="F5F7FA"/>
                </a:solidFill>
                <a:latin typeface="Inter"/>
              </a:rPr>
              <a:t>Beratung &amp; Durchführung</a:t>
            </a:r>
            <a:endParaRPr sz="1000" b="0" dirty="0">
              <a:solidFill>
                <a:srgbClr val="F5F7FA"/>
              </a:solidFill>
              <a:latin typeface="Inter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375904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6616" y="5669280"/>
            <a:ext cx="22128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5F7FA"/>
                </a:solidFill>
                <a:latin typeface="Inter"/>
              </a:rPr>
              <a:t>Be</a:t>
            </a:r>
            <a:r>
              <a:rPr lang="de-DE" sz="1000" b="0" dirty="0">
                <a:solidFill>
                  <a:srgbClr val="F5F7FA"/>
                </a:solidFill>
                <a:latin typeface="Inter"/>
              </a:rPr>
              <a:t>lastbare </a:t>
            </a:r>
            <a:r>
              <a:rPr sz="1000" b="0" dirty="0">
                <a:solidFill>
                  <a:srgbClr val="F5F7FA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F5F7FA"/>
                </a:solidFill>
                <a:latin typeface="Inter"/>
              </a:rPr>
              <a:t>Ergebnisaufbereitung</a:t>
            </a:r>
            <a:endParaRPr sz="1000" b="0" dirty="0">
              <a:solidFill>
                <a:srgbClr val="F5F7FA"/>
              </a:solidFill>
              <a:latin typeface="Inter"/>
            </a:endParaRP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1CFABC2B-D0B9-F655-0600-EA69D8D85E92}"/>
              </a:ext>
            </a:extLst>
          </p:cNvPr>
          <p:cNvSpPr/>
          <p:nvPr/>
        </p:nvSpPr>
        <p:spPr>
          <a:xfrm>
            <a:off x="6543414" y="2880360"/>
            <a:ext cx="2256162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F608BF-E593-A60D-AD7C-61C483CB233C}"/>
              </a:ext>
            </a:extLst>
          </p:cNvPr>
          <p:cNvSpPr txBox="1"/>
          <p:nvPr/>
        </p:nvSpPr>
        <p:spPr>
          <a:xfrm>
            <a:off x="6708006" y="3063240"/>
            <a:ext cx="202073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Konzept- und Designclinics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4F57DD-2808-210F-144E-CD48CF5947B9}"/>
              </a:ext>
            </a:extLst>
          </p:cNvPr>
          <p:cNvSpPr txBox="1"/>
          <p:nvPr/>
        </p:nvSpPr>
        <p:spPr>
          <a:xfrm>
            <a:off x="6708006" y="3581576"/>
            <a:ext cx="2020736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B0B7BF"/>
                </a:solidFill>
                <a:latin typeface="Inter"/>
              </a:rPr>
              <a:t>Fruehes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Feedback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zu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Exterieur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, Interieur,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Positionierung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und </a:t>
            </a:r>
            <a:r>
              <a:rPr sz="1250" b="0" dirty="0" err="1">
                <a:solidFill>
                  <a:srgbClr val="B0B7BF"/>
                </a:solidFill>
                <a:latin typeface="Inter"/>
              </a:rPr>
              <a:t>wahrgenommenem</a:t>
            </a:r>
            <a:r>
              <a:rPr sz="1250" b="0" dirty="0">
                <a:solidFill>
                  <a:srgbClr val="B0B7BF"/>
                </a:solidFill>
                <a:latin typeface="Inter"/>
              </a:rPr>
              <a:t> Wert.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7E1D0-1578-8DA1-A988-BB5E7699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0686B8-75FC-6102-E9A0-88B5CFC8CCA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887D2-0497-BFD2-6197-F13E720EF917}"/>
              </a:ext>
            </a:extLst>
          </p:cNvPr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CAR CLINICS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9760F-21E3-C659-6D5D-B9258F4E1DDA}"/>
              </a:ext>
            </a:extLst>
          </p:cNvPr>
          <p:cNvSpPr txBox="1"/>
          <p:nvPr/>
        </p:nvSpPr>
        <p:spPr>
          <a:xfrm>
            <a:off x="640080" y="914400"/>
            <a:ext cx="10058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Car clinics designed for high-stakes projects and confident product decisions.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65F30-DEEF-4F47-4083-38D10EC8252E}"/>
              </a:ext>
            </a:extLst>
          </p:cNvPr>
          <p:cNvSpPr txBox="1"/>
          <p:nvPr/>
        </p:nvSpPr>
        <p:spPr>
          <a:xfrm>
            <a:off x="640080" y="1874519"/>
            <a:ext cx="96926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For many years, L+H has been supporting volume car clinics, concept evaluations, and design clinics across complex automotive environments.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F31991-E06E-9451-BD58-291A1EEA6A17}"/>
              </a:ext>
            </a:extLst>
          </p:cNvPr>
          <p:cNvSpPr/>
          <p:nvPr/>
        </p:nvSpPr>
        <p:spPr>
          <a:xfrm>
            <a:off x="640080" y="2880360"/>
            <a:ext cx="2578607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10BF7-64C6-EBF3-49A6-3F288B1625FC}"/>
              </a:ext>
            </a:extLst>
          </p:cNvPr>
          <p:cNvSpPr txBox="1"/>
          <p:nvPr/>
        </p:nvSpPr>
        <p:spPr>
          <a:xfrm>
            <a:off x="804671" y="3063240"/>
            <a:ext cx="230953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Volume and static car clinics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B571A-C6B0-87A4-655D-C2ACF779CE29}"/>
              </a:ext>
            </a:extLst>
          </p:cNvPr>
          <p:cNvSpPr txBox="1"/>
          <p:nvPr/>
        </p:nvSpPr>
        <p:spPr>
          <a:xfrm>
            <a:off x="804671" y="3568499"/>
            <a:ext cx="2309535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Structured evaluation of vehicles and competitors, including volume, pricing, and detailed product attributes.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FB10C8-389F-D3D0-FFFB-9A36F3DEB03A}"/>
              </a:ext>
            </a:extLst>
          </p:cNvPr>
          <p:cNvSpPr/>
          <p:nvPr/>
        </p:nvSpPr>
        <p:spPr>
          <a:xfrm>
            <a:off x="3541134" y="2880360"/>
            <a:ext cx="2578607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02434-80FE-AD3C-62D1-67EE2E228D70}"/>
              </a:ext>
            </a:extLst>
          </p:cNvPr>
          <p:cNvSpPr txBox="1"/>
          <p:nvPr/>
        </p:nvSpPr>
        <p:spPr>
          <a:xfrm>
            <a:off x="3705726" y="3063240"/>
            <a:ext cx="230953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Concept and design clinics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23A96-26E5-8904-B462-D9B2AFCDC843}"/>
              </a:ext>
            </a:extLst>
          </p:cNvPr>
          <p:cNvSpPr txBox="1"/>
          <p:nvPr/>
        </p:nvSpPr>
        <p:spPr>
          <a:xfrm>
            <a:off x="3705726" y="3581576"/>
            <a:ext cx="2309535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Early-stage customer feedback on design direction, brand positioning, and perceived product value.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D016C9B-A14E-2A6A-DB52-31A8A88B1604}"/>
              </a:ext>
            </a:extLst>
          </p:cNvPr>
          <p:cNvSpPr/>
          <p:nvPr/>
        </p:nvSpPr>
        <p:spPr>
          <a:xfrm>
            <a:off x="9020797" y="2880360"/>
            <a:ext cx="2228730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41D05-2BB1-45DB-2CFB-24028BFF4DDF}"/>
              </a:ext>
            </a:extLst>
          </p:cNvPr>
          <p:cNvSpPr txBox="1"/>
          <p:nvPr/>
        </p:nvSpPr>
        <p:spPr>
          <a:xfrm>
            <a:off x="9185389" y="3063240"/>
            <a:ext cx="1996167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Prototype-Based Execution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45593-060D-EDBA-52F1-FB97D9FD1CC4}"/>
              </a:ext>
            </a:extLst>
          </p:cNvPr>
          <p:cNvSpPr txBox="1"/>
          <p:nvPr/>
        </p:nvSpPr>
        <p:spPr>
          <a:xfrm>
            <a:off x="9185389" y="3557016"/>
            <a:ext cx="1996167" cy="1054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TISAX-certified, privacy-compliant, and secure research execution for confidential development projects.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D5212C1-CC1A-DC45-29DA-2197D204BB2D}"/>
              </a:ext>
            </a:extLst>
          </p:cNvPr>
          <p:cNvSpPr/>
          <p:nvPr/>
        </p:nvSpPr>
        <p:spPr>
          <a:xfrm>
            <a:off x="640080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3A329-CEC7-FE44-DAD5-4AF783A2C90D}"/>
              </a:ext>
            </a:extLst>
          </p:cNvPr>
          <p:cNvSpPr txBox="1"/>
          <p:nvPr/>
        </p:nvSpPr>
        <p:spPr>
          <a:xfrm>
            <a:off x="731519" y="5769864"/>
            <a:ext cx="22128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Strategic recruitment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05188A-1122-0687-7CD8-F0732A8733CE}"/>
              </a:ext>
            </a:extLst>
          </p:cNvPr>
          <p:cNvSpPr/>
          <p:nvPr/>
        </p:nvSpPr>
        <p:spPr>
          <a:xfrm>
            <a:off x="3218687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20DD4B-B673-7DB5-8352-DC0BCD82F72B}"/>
              </a:ext>
            </a:extLst>
          </p:cNvPr>
          <p:cNvSpPr txBox="1"/>
          <p:nvPr/>
        </p:nvSpPr>
        <p:spPr>
          <a:xfrm>
            <a:off x="3310127" y="5769864"/>
            <a:ext cx="22128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Competitive benchmarking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CE61BB9-618D-C496-F6F5-C16491DDD6AE}"/>
              </a:ext>
            </a:extLst>
          </p:cNvPr>
          <p:cNvSpPr/>
          <p:nvPr/>
        </p:nvSpPr>
        <p:spPr>
          <a:xfrm>
            <a:off x="5797296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BA1D6-EE77-3C06-6308-9205D8AFD2D6}"/>
              </a:ext>
            </a:extLst>
          </p:cNvPr>
          <p:cNvSpPr txBox="1"/>
          <p:nvPr/>
        </p:nvSpPr>
        <p:spPr>
          <a:xfrm>
            <a:off x="5888736" y="5673608"/>
            <a:ext cx="221284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Senior consulting and project execution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ECC614E-768E-B65D-6132-0A17C3D376DF}"/>
              </a:ext>
            </a:extLst>
          </p:cNvPr>
          <p:cNvSpPr/>
          <p:nvPr/>
        </p:nvSpPr>
        <p:spPr>
          <a:xfrm>
            <a:off x="8375904" y="5669280"/>
            <a:ext cx="2423160" cy="384048"/>
          </a:xfrm>
          <a:prstGeom prst="roundRect">
            <a:avLst/>
          </a:prstGeom>
          <a:solidFill>
            <a:srgbClr val="0A0C0E"/>
          </a:solidFill>
          <a:ln>
            <a:solidFill>
              <a:srgbClr val="B0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7A7A1D-02DA-1D72-A463-068A437DDE0D}"/>
              </a:ext>
            </a:extLst>
          </p:cNvPr>
          <p:cNvSpPr txBox="1"/>
          <p:nvPr/>
        </p:nvSpPr>
        <p:spPr>
          <a:xfrm>
            <a:off x="8436616" y="5669280"/>
            <a:ext cx="221284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Reliable results and structured insight delivery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80530C57-2F09-308F-107E-14277A42CCB2}"/>
              </a:ext>
            </a:extLst>
          </p:cNvPr>
          <p:cNvSpPr/>
          <p:nvPr/>
        </p:nvSpPr>
        <p:spPr>
          <a:xfrm>
            <a:off x="6272141" y="2875788"/>
            <a:ext cx="2578607" cy="1828800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D1E749-7797-679B-9706-C16E4F5DAD51}"/>
              </a:ext>
            </a:extLst>
          </p:cNvPr>
          <p:cNvSpPr txBox="1"/>
          <p:nvPr/>
        </p:nvSpPr>
        <p:spPr>
          <a:xfrm>
            <a:off x="6371164" y="3023006"/>
            <a:ext cx="2479584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UX/UI- &amp; Smart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Fahrzeugerlebnisforschung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B70817-7CC5-5310-4987-B1D5AAEC2A3F}"/>
              </a:ext>
            </a:extLst>
          </p:cNvPr>
          <p:cNvSpPr txBox="1"/>
          <p:nvPr/>
        </p:nvSpPr>
        <p:spPr>
          <a:xfrm>
            <a:off x="6436733" y="3577004"/>
            <a:ext cx="2309535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5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Kundenbasierte Forschung für die Mobilität der Zukunft – zur Bewertung digitaler Cockpits, Bedienoberflächen, vernetzter Funktionen und neuer Elektrofahrzeugkonzepte.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788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C5C7"/>
                </a:solidFill>
                <a:latin typeface="Inter"/>
              </a:rPr>
              <a:t>ABSCHLUSS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Montserrat"/>
              </a:rPr>
              <a:t>Wenn Research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entscheidungsrelevant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Montserrat"/>
              </a:rPr>
              <a:t>werden</a:t>
            </a:r>
            <a:r>
              <a:rPr sz="2800" b="1" dirty="0">
                <a:solidFill>
                  <a:srgbClr val="FFFFFF"/>
                </a:solidFill>
                <a:latin typeface="Montserrat"/>
              </a:rPr>
              <a:t> muss.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969264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B0B7BF"/>
                </a:solidFill>
                <a:latin typeface="Inter"/>
              </a:rPr>
              <a:t>L+H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steht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fuer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senior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gefuehrtes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Automotive Research &amp;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Beratung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in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sensiblen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komplexen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und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beratungsnahen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Projekten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. Mit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unserer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datenschutzkonformen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KI-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Plattform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entwickeln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wir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Forschungsprozesse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gezielt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weiter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-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professionell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verantwortungsvoll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und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mit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klarem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Mehrwert</a:t>
            </a:r>
            <a:r>
              <a:rPr sz="1500" b="0" dirty="0">
                <a:solidFill>
                  <a:srgbClr val="B0B7BF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B0B7BF"/>
                </a:solidFill>
                <a:latin typeface="Inter"/>
              </a:rPr>
              <a:t>fuer</a:t>
            </a:r>
            <a:r>
              <a:rPr lang="de-DE" sz="1500" dirty="0">
                <a:solidFill>
                  <a:srgbClr val="B0B7BF"/>
                </a:solidFill>
                <a:latin typeface="Inter"/>
              </a:rPr>
              <a:t> valide Auswertungen, schnellere Verdichtung und belastbare Entscheidungsgrundlagen.</a:t>
            </a:r>
            <a:endParaRPr sz="1500" b="0" dirty="0">
              <a:solidFill>
                <a:srgbClr val="B0B7BF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937761"/>
            <a:ext cx="1005840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78C5C7"/>
                </a:solidFill>
                <a:latin typeface="Montserrat"/>
              </a:rPr>
              <a:t>Sprechen</a:t>
            </a:r>
            <a:r>
              <a:rPr sz="2000" b="1" dirty="0">
                <a:solidFill>
                  <a:srgbClr val="78C5C7"/>
                </a:solidFill>
                <a:latin typeface="Montserrat"/>
              </a:rPr>
              <a:t> Sie </a:t>
            </a:r>
            <a:r>
              <a:rPr sz="2000" b="1" dirty="0" err="1">
                <a:solidFill>
                  <a:srgbClr val="78C5C7"/>
                </a:solidFill>
                <a:latin typeface="Montserrat"/>
              </a:rPr>
              <a:t>mit</a:t>
            </a:r>
            <a:r>
              <a:rPr sz="2000" b="1" dirty="0">
                <a:solidFill>
                  <a:srgbClr val="78C5C7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78C5C7"/>
                </a:solidFill>
                <a:latin typeface="Montserrat"/>
              </a:rPr>
              <a:t>uns</a:t>
            </a:r>
            <a:r>
              <a:rPr sz="2000" b="1" dirty="0">
                <a:solidFill>
                  <a:srgbClr val="78C5C7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78C5C7"/>
                </a:solidFill>
                <a:latin typeface="Montserrat"/>
              </a:rPr>
              <a:t>ueber</a:t>
            </a:r>
            <a:r>
              <a:rPr sz="2000" b="1" dirty="0">
                <a:solidFill>
                  <a:srgbClr val="78C5C7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78C5C7"/>
                </a:solidFill>
                <a:latin typeface="Montserrat"/>
              </a:rPr>
              <a:t>Ihr</a:t>
            </a:r>
            <a:r>
              <a:rPr sz="2000" b="1" dirty="0">
                <a:solidFill>
                  <a:srgbClr val="78C5C7"/>
                </a:solidFill>
                <a:latin typeface="Montserrat"/>
              </a:rPr>
              <a:t> Projekt.</a:t>
            </a:r>
            <a:br>
              <a:rPr lang="de-DE" sz="2000" b="1" dirty="0">
                <a:solidFill>
                  <a:srgbClr val="78C5C7"/>
                </a:solidFill>
                <a:latin typeface="Montserrat"/>
              </a:rPr>
            </a:br>
            <a:r>
              <a:rPr lang="de-DE" sz="2000" b="1" dirty="0">
                <a:solidFill>
                  <a:srgbClr val="78C5C7"/>
                </a:solidFill>
                <a:latin typeface="Montserrat"/>
              </a:rPr>
              <a:t>Kontakt: Renate </a:t>
            </a:r>
            <a:r>
              <a:rPr lang="de-DE" sz="2000" b="1" dirty="0" err="1">
                <a:solidFill>
                  <a:srgbClr val="78C5C7"/>
                </a:solidFill>
                <a:latin typeface="Montserrat"/>
              </a:rPr>
              <a:t>Schulze@l-h.de</a:t>
            </a:r>
            <a:br>
              <a:rPr lang="de-DE" sz="2000" b="1" dirty="0">
                <a:solidFill>
                  <a:srgbClr val="78C5C7"/>
                </a:solidFill>
                <a:latin typeface="Montserrat"/>
              </a:rPr>
            </a:br>
            <a:r>
              <a:rPr lang="de-DE" sz="2000" b="1" dirty="0">
                <a:solidFill>
                  <a:srgbClr val="78C5C7"/>
                </a:solidFill>
                <a:latin typeface="Montserrat"/>
              </a:rPr>
              <a:t>E-Mail: 0176 1332289-0</a:t>
            </a:r>
            <a:br>
              <a:rPr lang="de-DE" sz="2000" b="1" dirty="0">
                <a:solidFill>
                  <a:srgbClr val="78C5C7"/>
                </a:solidFill>
                <a:latin typeface="Montserrat"/>
              </a:rPr>
            </a:br>
            <a:r>
              <a:rPr sz="2000" b="1" dirty="0">
                <a:solidFill>
                  <a:srgbClr val="78C5C7"/>
                </a:solidFill>
                <a:latin typeface="Montserrat"/>
              </a:rPr>
              <a:t>
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8D05E8C-8F07-062C-017E-1785DEC28CF2}"/>
              </a:ext>
            </a:extLst>
          </p:cNvPr>
          <p:cNvSpPr txBox="1"/>
          <p:nvPr/>
        </p:nvSpPr>
        <p:spPr>
          <a:xfrm>
            <a:off x="512489" y="3332649"/>
            <a:ext cx="9692640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dirty="0">
                <a:solidFill>
                  <a:srgbClr val="B0B7BF"/>
                </a:solidFill>
                <a:latin typeface="Inter"/>
              </a:rPr>
              <a:t>L</a:t>
            </a:r>
            <a:r>
              <a:rPr sz="1500" b="0" dirty="0">
                <a:solidFill>
                  <a:srgbClr val="FF0000"/>
                </a:solidFill>
                <a:latin typeface="Inter"/>
              </a:rPr>
              <a:t>+H</a:t>
            </a:r>
            <a:r>
              <a:rPr lang="de-DE" sz="1400" dirty="0">
                <a:solidFill>
                  <a:srgbClr val="FF0000"/>
                </a:solidFill>
              </a:rPr>
              <a:t>L+H steht für </a:t>
            </a:r>
            <a:r>
              <a:rPr lang="de-DE" sz="1400" b="1" dirty="0" err="1">
                <a:solidFill>
                  <a:srgbClr val="FF0000"/>
                </a:solidFill>
              </a:rPr>
              <a:t>senior</a:t>
            </a:r>
            <a:r>
              <a:rPr lang="de-DE" sz="1400" b="1" dirty="0">
                <a:solidFill>
                  <a:srgbClr val="FF0000"/>
                </a:solidFill>
              </a:rPr>
              <a:t> geführtes Automotive Research &amp; Beratung</a:t>
            </a:r>
            <a:r>
              <a:rPr lang="de-DE" sz="1400" dirty="0">
                <a:solidFill>
                  <a:srgbClr val="FF0000"/>
                </a:solidFill>
              </a:rPr>
              <a:t> in sensiblen, komplexen und beratungsnahen Projekten.</a:t>
            </a:r>
            <a:br>
              <a:rPr lang="de-DE" sz="1400" dirty="0">
                <a:solidFill>
                  <a:srgbClr val="FF0000"/>
                </a:solidFill>
              </a:rPr>
            </a:br>
            <a:r>
              <a:rPr lang="de-DE" sz="1400" dirty="0">
                <a:solidFill>
                  <a:srgbClr val="FF0000"/>
                </a:solidFill>
              </a:rPr>
              <a:t>Wir verbinden </a:t>
            </a:r>
            <a:r>
              <a:rPr lang="de-DE" sz="1400" b="1" dirty="0">
                <a:solidFill>
                  <a:srgbClr val="FF0000"/>
                </a:solidFill>
              </a:rPr>
              <a:t>methodische Sicherheit</a:t>
            </a:r>
            <a:r>
              <a:rPr lang="de-DE" sz="1400" dirty="0">
                <a:solidFill>
                  <a:srgbClr val="FF0000"/>
                </a:solidFill>
              </a:rPr>
              <a:t>, </a:t>
            </a:r>
            <a:r>
              <a:rPr lang="de-DE" sz="1400" b="1" dirty="0">
                <a:solidFill>
                  <a:srgbClr val="FF0000"/>
                </a:solidFill>
              </a:rPr>
              <a:t>TISAX-zertifizierte Prozesssicherheit</a:t>
            </a:r>
            <a:r>
              <a:rPr lang="de-DE" sz="1400" dirty="0">
                <a:solidFill>
                  <a:srgbClr val="FF0000"/>
                </a:solidFill>
              </a:rPr>
              <a:t>, </a:t>
            </a:r>
            <a:r>
              <a:rPr lang="de-DE" sz="1400" b="1" dirty="0">
                <a:solidFill>
                  <a:srgbClr val="FF0000"/>
                </a:solidFill>
              </a:rPr>
              <a:t>flexible Projektführung</a:t>
            </a:r>
            <a:r>
              <a:rPr lang="de-DE" sz="1400" dirty="0">
                <a:solidFill>
                  <a:srgbClr val="FF0000"/>
                </a:solidFill>
              </a:rPr>
              <a:t> und </a:t>
            </a:r>
            <a:r>
              <a:rPr lang="de-DE" sz="1400" b="1" dirty="0">
                <a:solidFill>
                  <a:srgbClr val="FF0000"/>
                </a:solidFill>
              </a:rPr>
              <a:t>Ergebnisaufbereitung, die auch vor Management und Vorstand Bestand hat</a:t>
            </a:r>
            <a:r>
              <a:rPr lang="de-DE" sz="1400" dirty="0">
                <a:solidFill>
                  <a:srgbClr val="FF0000"/>
                </a:solidFill>
              </a:rPr>
              <a:t>.</a:t>
            </a:r>
          </a:p>
          <a:p>
            <a:r>
              <a:rPr lang="de-DE" sz="1400" dirty="0">
                <a:solidFill>
                  <a:srgbClr val="FF0000"/>
                </a:solidFill>
              </a:rPr>
              <a:t>Mit unserer </a:t>
            </a:r>
            <a:r>
              <a:rPr lang="de-DE" sz="1400" b="1" dirty="0">
                <a:solidFill>
                  <a:srgbClr val="FF0000"/>
                </a:solidFill>
              </a:rPr>
              <a:t>datenschutzkonformen KI-Plattform</a:t>
            </a:r>
            <a:r>
              <a:rPr lang="de-DE" sz="1400" dirty="0">
                <a:solidFill>
                  <a:srgbClr val="FF0000"/>
                </a:solidFill>
              </a:rPr>
              <a:t> entwickeln wir Forschungsprozesse gezielt weiter – für </a:t>
            </a:r>
            <a:r>
              <a:rPr lang="de-DE" sz="1400" b="1" dirty="0">
                <a:solidFill>
                  <a:srgbClr val="FF0000"/>
                </a:solidFill>
              </a:rPr>
              <a:t>präzisere Auswertung</a:t>
            </a:r>
            <a:r>
              <a:rPr lang="de-DE" sz="1400" dirty="0">
                <a:solidFill>
                  <a:srgbClr val="FF0000"/>
                </a:solidFill>
              </a:rPr>
              <a:t>, </a:t>
            </a:r>
            <a:r>
              <a:rPr lang="de-DE" sz="1400" b="1" dirty="0">
                <a:solidFill>
                  <a:srgbClr val="FF0000"/>
                </a:solidFill>
              </a:rPr>
              <a:t>schnellere Verdichtung</a:t>
            </a:r>
            <a:r>
              <a:rPr lang="de-DE" sz="1400" dirty="0">
                <a:solidFill>
                  <a:srgbClr val="FF0000"/>
                </a:solidFill>
              </a:rPr>
              <a:t> und </a:t>
            </a:r>
            <a:r>
              <a:rPr lang="de-DE" sz="1400" b="1" dirty="0">
                <a:solidFill>
                  <a:srgbClr val="FF0000"/>
                </a:solidFill>
              </a:rPr>
              <a:t>belastbare Entscheidungsgrundlagen</a:t>
            </a:r>
            <a:r>
              <a:rPr lang="de-DE" sz="1400" dirty="0">
                <a:solidFill>
                  <a:srgbClr val="FF0000"/>
                </a:solidFill>
              </a:rPr>
              <a:t>.</a:t>
            </a:r>
          </a:p>
          <a:p>
            <a:pPr algn="l"/>
            <a:r>
              <a:rPr lang="de-DE" sz="1400" dirty="0">
                <a:solidFill>
                  <a:srgbClr val="FF0000"/>
                </a:solidFill>
                <a:latin typeface="Inter"/>
              </a:rPr>
              <a:t>.</a:t>
            </a:r>
            <a:endParaRPr sz="1400" b="0" dirty="0">
              <a:solidFill>
                <a:srgbClr val="FF000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5947E-3F58-3B5A-4D7A-E8A73DD7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FA27DA-A57E-5F51-CE51-E9BB43ED567A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B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521C3-6282-4E79-2500-546709BBDF12}"/>
              </a:ext>
            </a:extLst>
          </p:cNvPr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CONCLUSION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78C5C7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355E5-9834-E780-556A-C308CD1A12E3}"/>
              </a:ext>
            </a:extLst>
          </p:cNvPr>
          <p:cNvSpPr txBox="1"/>
          <p:nvPr/>
        </p:nvSpPr>
        <p:spPr>
          <a:xfrm>
            <a:off x="640080" y="91440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When Research Shapes Better Decisions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46F36-1FAD-5246-501F-AF5016D11E8A}"/>
              </a:ext>
            </a:extLst>
          </p:cNvPr>
          <p:cNvSpPr txBox="1"/>
          <p:nvPr/>
        </p:nvSpPr>
        <p:spPr>
          <a:xfrm>
            <a:off x="640080" y="1874519"/>
            <a:ext cx="9692640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 bring together methodological rigor, TISAX-certified process security, flexible project leadership, and executive-ready insights that support decisions from specialist teams through to senior management and the board.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0B7B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Through our privacy-compliant AI platform, we continuously evolve research processes, providing more precise analysis, faster synthesis, and reliable decision foundations.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0B7B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81AE5-638E-C14F-C809-9E2B6DBE3AFE}"/>
              </a:ext>
            </a:extLst>
          </p:cNvPr>
          <p:cNvSpPr txBox="1"/>
          <p:nvPr/>
        </p:nvSpPr>
        <p:spPr>
          <a:xfrm>
            <a:off x="457200" y="4937761"/>
            <a:ext cx="10058400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Let’s discuss how we can support your project.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Get in touch: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78C5C7"/>
                </a:solidFill>
                <a:latin typeface="Montserrat"/>
              </a:rPr>
              <a:t>Renate Schulze</a:t>
            </a:r>
            <a:br>
              <a:rPr lang="en-US" sz="2000" b="1" dirty="0">
                <a:solidFill>
                  <a:srgbClr val="78C5C7"/>
                </a:solidFill>
                <a:latin typeface="Montserrat"/>
              </a:rPr>
            </a:br>
            <a:r>
              <a:rPr lang="en-US" sz="2000" b="1" dirty="0">
                <a:solidFill>
                  <a:srgbClr val="78C5C7"/>
                </a:solidFill>
                <a:latin typeface="Montserrat"/>
              </a:rPr>
              <a:t>Managing Director</a:t>
            </a:r>
            <a:b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Email: Renate.Schulze@l-h.de</a:t>
            </a:r>
            <a:b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Phone: </a:t>
            </a:r>
            <a:r>
              <a:rPr lang="de-DE" sz="2000" b="1" dirty="0">
                <a:solidFill>
                  <a:srgbClr val="78C5C7"/>
                </a:solidFill>
                <a:latin typeface="Montserrat"/>
              </a:rPr>
              <a:t>+49 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176 13322890</a:t>
            </a:r>
            <a:b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78C5C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14286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Daria Grishchenko</cp:lastModifiedBy>
  <cp:revision>4</cp:revision>
  <dcterms:created xsi:type="dcterms:W3CDTF">2013-01-27T09:14:16Z</dcterms:created>
  <dcterms:modified xsi:type="dcterms:W3CDTF">2026-07-21T15:45:15Z</dcterms:modified>
  <cp:category/>
</cp:coreProperties>
</file>